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8ECF4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E8ECF4"/>
                </a:solidFill>
                <a:latin typeface="Calibri"/>
              </a:rPr>
              <a:t>Caught in blast (% of 250 people, simulated deaths)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Shortest path</c:v>
                </c:pt>
              </c:strCache>
            </c:strRef>
          </c:tx>
          <c:spPr>
            <a:solidFill>
              <a:srgbClr val="FF5A4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8ECF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60 s warning</c:v>
                  </c:pt>
                  <c:pt idx="1">
                    <c:v>180 s warning</c:v>
                  </c:pt>
                  <c:pt idx="2">
                    <c:v>300 s warning</c:v>
                  </c:pt>
                  <c:pt idx="3">
                    <c:v>400 s warning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21.3</c:v>
                </c:pt>
                <c:pt idx="1">
                  <c:v>6.5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Congestion-aware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8ECF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60 s warning</c:v>
                  </c:pt>
                  <c:pt idx="1">
                    <c:v>180 s warning</c:v>
                  </c:pt>
                  <c:pt idx="2">
                    <c:v>300 s warning</c:v>
                  </c:pt>
                  <c:pt idx="3">
                    <c:v>400 s warning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20.8</c:v>
                </c:pt>
                <c:pt idx="1">
                  <c:v>5.9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Load-balanced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8ECF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60 s warning</c:v>
                  </c:pt>
                  <c:pt idx="1">
                    <c:v>180 s warning</c:v>
                  </c:pt>
                  <c:pt idx="2">
                    <c:v>300 s warning</c:v>
                  </c:pt>
                  <c:pt idx="3">
                    <c:v>400 s warning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20.8</c:v>
                </c:pt>
                <c:pt idx="1">
                  <c:v>5.8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E8ECF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5B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6350" cap="flat">
              <a:solidFill>
                <a:srgbClr val="2A35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5B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E8ECF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8ECF4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E8ECF4"/>
                </a:solidFill>
                <a:latin typeface="Calibri"/>
              </a:rPr>
              <a:t>Reached a safe stop within 30 minutes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Shortest path</c:v>
                </c:pt>
              </c:strCache>
            </c:strRef>
          </c:tx>
          <c:spPr>
            <a:solidFill>
              <a:srgbClr val="FF5A4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8ECF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Synthetic grid (300 people)</c:v>
                  </c:pt>
                  <c:pt idx="1">
                    <c:v>Campus map (250 people)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60.7</c:v>
                </c:pt>
                <c:pt idx="1">
                  <c:v>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Congestion-aware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8ECF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Synthetic grid (300 people)</c:v>
                  </c:pt>
                  <c:pt idx="1">
                    <c:v>Campus map (250 people)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78.1</c:v>
                </c:pt>
                <c:pt idx="1">
                  <c:v>100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Load-balanced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8ECF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Synthetic grid (300 people)</c:v>
                  </c:pt>
                  <c:pt idx="1">
                    <c:v>Campus map (250 people)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78</c:v>
                </c:pt>
                <c:pt idx="1">
                  <c:v>100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E8ECF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5B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2A35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5B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E8ECF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 agent-based evacuation and emergency-alert simulator for Amrita Vishwa Vidyapeetham, Amaravati. It is an educational model, not a real alert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crowd must reach places of safety before a hazard strikes. Warning time and how the crowd moves through limited-capacity roads decide the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took inspiration from the paper; we did not replicate it. We kept its questions: how early is the alert, and are people safe in time. The bomb-scenario model is our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gets the alert at the same moment and picks the same nearest exits. Queues form. In our simulation everyone has a phone, so the issue is routing and warning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movement, compare strategies on identical crowds, test warning time, make results visible and stored.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from OpenStreetMap via OSMnx. Agents generated from a seed. The engine steps time. Results go to SQLite and show in Streamlit and a deck.gl 3D replay.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Waiting, moving, queued, then evacuated or unable to evacuate. Illegal transitions raise an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BPR travel time: free-flow time inflated by the load ratio. Agents queue at the tail of a full road. Safe stops have capacity and throughput per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Shortest path ignores crowding. Congestion-aware adds crowding and queue cost and re-routes if a route is at least 15 percent cheaper, checked every 30 seconds. Load-balanced assigns destinations centrally.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bomb has an alert radius, a blast radius, an alert time and a strike time. At the strike, roads inside the blast close, safe stops inside are lost, and anyone inside is counted as caught. No injuries or casualties are modelled or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SQLite via sqlite3 with versioned migrations and transactional run persistence. Analysis uses joins, aggregation and window functions, with a read-only SQL console and integrity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Streamlit dashboard with four tabs, a live deck.gl 3D replay with a simulated phone, and a real phone view that stays in sync over Wi-Fi.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Bomb drill on the campus map: 250 people, blast radius 150 m, mean over 10 random crowds. A 60 second warning leaves about 21 percent caught in the blast; 300 seconds or more leaves none. The three routing strategies are within about 1 point of each other, inside the run-to-run spread. Caught people are simulated deaths in an educational model, not predictions.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Crowd stress test with no bomb: everyone leaves at once and has 30 minutes. On the synthetic grid shortest path gets about 61 percent out, congestion-aware and load-balanced about 78 percent. On the campus map shortest path gets 94 percent, the others 100. Mean over 10 seeds.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82 automated tests cover simulation, routing, capacity, hazards, database, UI and a Node test of the browser-side route finder. Same seed gives identical events.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not validated against real evacuations; assumptions throughout; caught people are counted as simulated deaths, nothing graphic; it cannot send a real alert; safe stops are not official shelters.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work: real shelter data, calibration against drills, density-dependent speed, social-force and panic behaviour, more hazards, integration with authorities. Conclusion: routing and warning time change who reaches safety.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594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SIMULATION  ·  AMARAVATI CAMPUS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E8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PANIC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E8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0632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and warning time decide who reaches safety. We simulate it on a real campus road network.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97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Amrita Vishwa Vidyapeetham, Amaravati</a:t>
            </a:r>
            <a:endParaRPr lang="en-US" sz="1200" dirty="0"/>
          </a:p>
        </p:txBody>
      </p:sp>
      <p:pic>
        <p:nvPicPr>
          <p:cNvPr id="7" name="Image 0" descr="C:/Users/aashu/Downloads/panic_engine/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051560"/>
            <a:ext cx="3703320" cy="277977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892040" y="3931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3D replay of run 11: 250 people on the campus map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8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evacuation needs modelling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141B2B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Warning time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8803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before the hazard strikes people are told. Too little and nothing else matters.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91840" y="155448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141B2B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20440" y="1783080"/>
            <a:ext cx="457200" cy="457200"/>
          </a:xfrm>
          <a:prstGeom prst="ellipse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204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capacity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3520440" y="28803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 and exits hold only so many people. Everyone on one road means a queue.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035040" y="155448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141B2B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1783080"/>
            <a:ext cx="457200" cy="4572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63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26364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Simulated agents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28803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is an agent with a start, a destination and a route, on a real road network.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8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Inspired by the Cannes tsunami paper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4754880" cy="3017520"/>
          </a:xfrm>
          <a:prstGeom prst="roundRect">
            <a:avLst>
              <a:gd name="adj" fmla="val 3636"/>
            </a:avLst>
          </a:prstGeom>
          <a:solidFill>
            <a:srgbClr val="141B2B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6916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Carles, Chapuis, Douvinet, Péroche and Bopp (2024)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Agent-Based Model to Simulate the Effects of Tsunami Warnings on Pedestrian Evacuation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918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2024, Kyoto, pp. 369-384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 10.1007/978-3-031-77367-9_28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 hal-04794796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1463040"/>
            <a:ext cx="3017520" cy="1417320"/>
          </a:xfrm>
          <a:prstGeom prst="roundRect">
            <a:avLst>
              <a:gd name="adj" fmla="val 7742"/>
            </a:avLst>
          </a:prstGeom>
          <a:solidFill>
            <a:srgbClr val="141B2B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06440" y="1645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806440" y="19659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early is the alert? Are people safe in time?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577840" y="3063240"/>
            <a:ext cx="3017520" cy="1417320"/>
          </a:xfrm>
          <a:prstGeom prst="roundRect">
            <a:avLst>
              <a:gd name="adj" fmla="val 7742"/>
            </a:avLst>
          </a:prstGeom>
          <a:solidFill>
            <a:srgbClr val="141B2B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80644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806440" y="3566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model: a bomb scenario on a campus road network.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8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8046720" cy="2103120"/>
          </a:xfrm>
          <a:prstGeom prst="roundRect">
            <a:avLst>
              <a:gd name="adj" fmla="val 5217"/>
            </a:avLst>
          </a:prstGeom>
          <a:solidFill>
            <a:srgbClr val="1A1416"/>
          </a:solidFill>
          <a:ln w="12700">
            <a:solidFill>
              <a:srgbClr val="5A2A2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645920"/>
            <a:ext cx="7406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is told to go to a safe place at the same moment. They pick the nearest exits and the same roads, queues form, and some run out of time before the strike.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people be routed, and how much warning time is needed, so that most reach safety in time?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8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objectives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141B2B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movement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2194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road network with capacity limits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146304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141B2B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37760" y="1920240"/>
            <a:ext cx="502920" cy="50292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377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strategies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0" y="2194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crowds, different routing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306324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141B2B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" y="3520440"/>
            <a:ext cx="502920" cy="5029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55448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warning time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3794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lead time before a strike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663440" y="306324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141B2B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937760" y="3520440"/>
            <a:ext cx="502920" cy="502920"/>
          </a:xfrm>
          <a:prstGeom prst="ellipse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93776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and store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0" y="3794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replay, phone view, SQL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8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fits together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1417320" cy="1737360"/>
          </a:xfrm>
          <a:prstGeom prst="roundRect">
            <a:avLst>
              <a:gd name="adj" fmla="val 7742"/>
            </a:avLst>
          </a:prstGeom>
          <a:solidFill>
            <a:srgbClr val="141B2B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2148840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data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2697480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OSMnx, cached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984248" y="2697480"/>
            <a:ext cx="182880" cy="0"/>
          </a:xfrm>
          <a:prstGeom prst="line">
            <a:avLst/>
          </a:prstGeom>
          <a:noFill/>
          <a:ln w="19050">
            <a:solidFill>
              <a:srgbClr val="9AA5BC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176272" y="1828800"/>
            <a:ext cx="1417320" cy="1737360"/>
          </a:xfrm>
          <a:prstGeom prst="roundRect">
            <a:avLst>
              <a:gd name="adj" fmla="val 7742"/>
            </a:avLst>
          </a:prstGeom>
          <a:solidFill>
            <a:srgbClr val="141B2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249424" y="2148840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249424" y="2697480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crowd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11880" y="2697480"/>
            <a:ext cx="182880" cy="0"/>
          </a:xfrm>
          <a:prstGeom prst="line">
            <a:avLst/>
          </a:prstGeom>
          <a:noFill/>
          <a:ln w="19050">
            <a:solidFill>
              <a:srgbClr val="9AA5BC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803904" y="1828800"/>
            <a:ext cx="1417320" cy="1737360"/>
          </a:xfrm>
          <a:prstGeom prst="roundRect">
            <a:avLst>
              <a:gd name="adj" fmla="val 7742"/>
            </a:avLst>
          </a:prstGeom>
          <a:solidFill>
            <a:srgbClr val="141B2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877056" y="2148840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877056" y="2697480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timestep loop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239512" y="2697480"/>
            <a:ext cx="182880" cy="0"/>
          </a:xfrm>
          <a:prstGeom prst="line">
            <a:avLst/>
          </a:prstGeom>
          <a:noFill/>
          <a:ln w="19050">
            <a:solidFill>
              <a:srgbClr val="9AA5BC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5431536" y="1828800"/>
            <a:ext cx="1417320" cy="1737360"/>
          </a:xfrm>
          <a:prstGeom prst="roundRect">
            <a:avLst>
              <a:gd name="adj" fmla="val 7742"/>
            </a:avLst>
          </a:prstGeom>
          <a:solidFill>
            <a:srgbClr val="141B2B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504688" y="2148840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504688" y="2697480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tables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867144" y="2697480"/>
            <a:ext cx="182880" cy="0"/>
          </a:xfrm>
          <a:prstGeom prst="line">
            <a:avLst/>
          </a:prstGeom>
          <a:noFill/>
          <a:ln w="19050">
            <a:solidFill>
              <a:srgbClr val="9AA5BC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7059168" y="1828800"/>
            <a:ext cx="1417320" cy="1737360"/>
          </a:xfrm>
          <a:prstGeom prst="roundRect">
            <a:avLst>
              <a:gd name="adj" fmla="val 7742"/>
            </a:avLst>
          </a:prstGeom>
          <a:solidFill>
            <a:srgbClr val="141B2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132320" y="2148840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Views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132320" y="2697480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+ dashboard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NetworkX  ·  OSMnx  ·  SQLite  ·  Streamlit  ·  deck.gl  ·  pytest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8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person has a life cycle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2194560" cy="731520"/>
          </a:xfrm>
          <a:prstGeom prst="roundRect">
            <a:avLst>
              <a:gd name="adj" fmla="val 50000"/>
            </a:avLst>
          </a:prstGeom>
          <a:solidFill>
            <a:srgbClr val="141B2B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474720" y="1645920"/>
            <a:ext cx="2194560" cy="731520"/>
          </a:xfrm>
          <a:prstGeom prst="roundRect">
            <a:avLst>
              <a:gd name="adj" fmla="val 50000"/>
            </a:avLst>
          </a:prstGeom>
          <a:solidFill>
            <a:srgbClr val="141B2B"/>
          </a:solidFill>
          <a:ln w="25400">
            <a:solidFill>
              <a:srgbClr val="60A5F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472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0" y="1645920"/>
            <a:ext cx="2194560" cy="731520"/>
          </a:xfrm>
          <a:prstGeom prst="roundRect">
            <a:avLst>
              <a:gd name="adj" fmla="val 50000"/>
            </a:avLst>
          </a:prstGeom>
          <a:solidFill>
            <a:srgbClr val="141B2B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EVACUATED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474720" y="3108960"/>
            <a:ext cx="2194560" cy="731520"/>
          </a:xfrm>
          <a:prstGeom prst="roundRect">
            <a:avLst>
              <a:gd name="adj" fmla="val 50000"/>
            </a:avLst>
          </a:prstGeom>
          <a:solidFill>
            <a:srgbClr val="141B2B"/>
          </a:solidFill>
          <a:ln w="25400">
            <a:solidFill>
              <a:srgbClr val="FF5A4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74720" y="3108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00800" y="3108960"/>
            <a:ext cx="2194560" cy="731520"/>
          </a:xfrm>
          <a:prstGeom prst="roundRect">
            <a:avLst>
              <a:gd name="adj" fmla="val 50000"/>
            </a:avLst>
          </a:prstGeom>
          <a:solidFill>
            <a:srgbClr val="141B2B"/>
          </a:solidFill>
          <a:ln w="25400">
            <a:solidFill>
              <a:srgbClr val="9AA5B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0" y="3108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UNABLE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788920" y="2011680"/>
            <a:ext cx="640080" cy="0"/>
          </a:xfrm>
          <a:prstGeom prst="line">
            <a:avLst/>
          </a:prstGeom>
          <a:noFill/>
          <a:ln w="19050">
            <a:solidFill>
              <a:srgbClr val="9AA5BC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715000" y="2011680"/>
            <a:ext cx="640080" cy="0"/>
          </a:xfrm>
          <a:prstGeom prst="line">
            <a:avLst/>
          </a:prstGeom>
          <a:noFill/>
          <a:ln w="19050">
            <a:solidFill>
              <a:srgbClr val="9AA5BC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5715000" y="3474720"/>
            <a:ext cx="640080" cy="0"/>
          </a:xfrm>
          <a:prstGeom prst="line">
            <a:avLst/>
          </a:prstGeom>
          <a:noFill/>
          <a:ln w="19050">
            <a:solidFill>
              <a:srgbClr val="9AA5BC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4572000" y="2423160"/>
            <a:ext cx="0" cy="640080"/>
          </a:xfrm>
          <a:prstGeom prst="line">
            <a:avLst/>
          </a:prstGeom>
          <a:noFill/>
          <a:ln w="19050">
            <a:solidFill>
              <a:srgbClr val="9AA5BC"/>
            </a:solidFill>
            <a:prstDash val="solid"/>
            <a:headEnd type="triangle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54864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and queued alternate as roads fill; a full safe stop or lost route ends in unable to evacuate.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8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Roads slow down as they fill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4937760" cy="1828800"/>
          </a:xfrm>
          <a:prstGeom prst="roundRect">
            <a:avLst>
              <a:gd name="adj" fmla="val 6000"/>
            </a:avLst>
          </a:prstGeom>
          <a:solidFill>
            <a:srgbClr val="141B2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7373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 =  t0 × (1 + α · rᵝ)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603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free-flow time, r = people ÷ capacity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0.6, β = 2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760720" y="1463040"/>
            <a:ext cx="2834640" cy="548640"/>
          </a:xfrm>
          <a:prstGeom prst="roundRect">
            <a:avLst>
              <a:gd name="adj" fmla="val 20000"/>
            </a:avLst>
          </a:prstGeom>
          <a:solidFill>
            <a:srgbClr val="141B2B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97880" y="149961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897880" y="1737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per road, from length and width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760720" y="2103120"/>
            <a:ext cx="2834640" cy="548640"/>
          </a:xfrm>
          <a:prstGeom prst="roundRect">
            <a:avLst>
              <a:gd name="adj" fmla="val 20000"/>
            </a:avLst>
          </a:prstGeom>
          <a:solidFill>
            <a:srgbClr val="141B2B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97880" y="21396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897880" y="2377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at the tail of a full road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760720" y="2743200"/>
            <a:ext cx="2834640" cy="548640"/>
          </a:xfrm>
          <a:prstGeom prst="roundRect">
            <a:avLst>
              <a:gd name="adj" fmla="val 20000"/>
            </a:avLst>
          </a:prstGeom>
          <a:solidFill>
            <a:srgbClr val="141B2B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97880" y="27797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stops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897880" y="30175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plus throughput per step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crowd on the same road is faster when empty and much slower near capacity.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STRATEGIES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8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choose a route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141B2B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45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Shortest path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48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Free-flow time only. Everyone takes the quickest empty route.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657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46304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141B2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74720" y="1645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Congestion-aware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2148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crowding and queue wait. Re-routes at 15% saving, every 30 s.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3657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t0(1+α rᵝ) + γ q t0 / cap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35040" y="146304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141B2B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0" y="1645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Load-balanced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2148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 planner spreads people across safe stops.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3657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cost + load penalty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8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bomb scenario timeline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822960" y="2377440"/>
            <a:ext cx="7498080" cy="0"/>
          </a:xfrm>
          <a:prstGeom prst="line">
            <a:avLst/>
          </a:prstGeom>
          <a:noFill/>
          <a:ln w="38100">
            <a:solidFill>
              <a:srgbClr val="2A355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691640" y="2148840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6916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27889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 inside the alert radius ring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34840" y="2148840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348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74904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749040" y="27889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delivery delay + random reaction delay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178040" y="2148840"/>
            <a:ext cx="457200" cy="457200"/>
          </a:xfrm>
          <a:prstGeom prst="ellipse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780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49224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92240" y="27889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 and safe stops in blast area lost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"Caught" people are counted as simulated deaths: a measure of how late the alert was.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8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is stored in SQL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141B2B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91840" y="146304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141B2B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9184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10" name="Text 7"/>
          <p:cNvSpPr txBox="1"/>
          <p:nvPr/>
        </p:nvSpPr>
        <p:spPr>
          <a:xfrm>
            <a:off x="329184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35040" y="146304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141B2B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3504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6000" dirty="0"/>
          </a:p>
        </p:txBody>
      </p:sp>
      <p:sp>
        <p:nvSpPr>
          <p:cNvPr id="13" name="Text 10"/>
          <p:cNvSpPr txBox="1"/>
          <p:nvPr/>
        </p:nvSpPr>
        <p:spPr>
          <a:xfrm>
            <a:off x="603504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checks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Scenarios, events, snapshots and outcomes are saved per run and analysed with SQL.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8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application</a:t>
            </a:r>
            <a:endParaRPr lang="en-US" sz="3400" dirty="0"/>
          </a:p>
        </p:txBody>
      </p:sp>
      <p:pic>
        <p:nvPicPr>
          <p:cNvPr id="5" name="Image 0" descr="C:/Users/aashu/Downloads/panic_engine/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4023360" cy="30175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846320" y="1417320"/>
            <a:ext cx="3749040" cy="685800"/>
          </a:xfrm>
          <a:prstGeom prst="roundRect">
            <a:avLst>
              <a:gd name="adj" fmla="val 16000"/>
            </a:avLst>
          </a:prstGeom>
          <a:solidFill>
            <a:srgbClr val="141B2B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02920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simulation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029200" y="18013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replay, simulated phone, manual control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846320" y="2194560"/>
            <a:ext cx="3749040" cy="685800"/>
          </a:xfrm>
          <a:prstGeom prst="roundRect">
            <a:avLst>
              <a:gd name="adj" fmla="val 16000"/>
            </a:avLst>
          </a:prstGeom>
          <a:solidFill>
            <a:srgbClr val="141B2B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029200" y="2286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029200" y="25786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congestion, bottlenecks, timelines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846320" y="2971800"/>
            <a:ext cx="3749040" cy="685800"/>
          </a:xfrm>
          <a:prstGeom prst="roundRect">
            <a:avLst>
              <a:gd name="adj" fmla="val 16000"/>
            </a:avLst>
          </a:prstGeom>
          <a:solidFill>
            <a:srgbClr val="141B2B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02920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029200" y="33558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runs, lead-time experiment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846320" y="3749040"/>
            <a:ext cx="3749040" cy="685800"/>
          </a:xfrm>
          <a:prstGeom prst="roundRect">
            <a:avLst>
              <a:gd name="adj" fmla="val 16000"/>
            </a:avLst>
          </a:prstGeom>
          <a:solidFill>
            <a:srgbClr val="141B2B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02920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029200" y="41330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console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BOMB DRILL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8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Deaths fall with warning time</a:t>
            </a:r>
            <a:endParaRPr lang="en-US" sz="3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71600"/>
          <a:ext cx="5760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6492240" y="1463040"/>
            <a:ext cx="2103120" cy="2926080"/>
          </a:xfrm>
          <a:prstGeom prst="roundRect">
            <a:avLst>
              <a:gd name="adj" fmla="val 5217"/>
            </a:avLst>
          </a:prstGeom>
          <a:solidFill>
            <a:srgbClr val="141B2B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675120" y="1645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675120" y="201168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time decides the toll. The routing rule changes it by about 1 point or less.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6675120" y="3840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10 seeds, same crowd for all three.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CROWD STRESS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8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matters when crowds jam</a:t>
            </a:r>
            <a:endParaRPr lang="en-US" sz="3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71600"/>
          <a:ext cx="5760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6492240" y="1463040"/>
            <a:ext cx="2103120" cy="2926080"/>
          </a:xfrm>
          <a:prstGeom prst="roundRect">
            <a:avLst>
              <a:gd name="adj" fmla="val 5217"/>
            </a:avLst>
          </a:prstGeom>
          <a:solidFill>
            <a:srgbClr val="141B2B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675120" y="1645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675120" y="201168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everyone takes the shortest path, roads jam and fewer people get out. Avoiding crowds helps.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6675120" y="3840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model. Direction, not real-world prediction.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8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know it behaves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141B2B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743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46304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141B2B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9184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60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2743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integrity checks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035040" y="146304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141B2B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3504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2743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check: same seed, same events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Simulation, routing, capacity, hazards, database, UI, and a Node test of the browser route finder.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8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and ethics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141B2B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validated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574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Capacities and speeds are assumptions, not calibrated to real drills.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46304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141B2B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9204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model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892040" y="20574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spill-back, panic or group behaviour, or obstacles. Blast is a radius rule.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06324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141B2B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Simulated deaths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6576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still inside the blast at the strike are counted as deaths in the model. Nothing graphic is shown.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663440" y="306324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141B2B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92040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an alert system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36576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send real alerts. Safe stops are hypothetical, not shelters.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8EC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and conclusion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931920" cy="3017520"/>
          </a:xfrm>
          <a:prstGeom prst="roundRect">
            <a:avLst>
              <a:gd name="adj" fmla="val 3636"/>
            </a:avLst>
          </a:prstGeom>
          <a:solidFill>
            <a:srgbClr val="141B2B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0312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shelter and exit 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against observed drills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Density-dependent speed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and group behaviour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hazard types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463040"/>
            <a:ext cx="3931920" cy="3017520"/>
          </a:xfrm>
          <a:prstGeom prst="roundRect">
            <a:avLst>
              <a:gd name="adj" fmla="val 3636"/>
            </a:avLst>
          </a:prstGeom>
          <a:solidFill>
            <a:srgbClr val="1A1416"/>
          </a:solidFill>
          <a:ln w="12700">
            <a:solidFill>
              <a:srgbClr val="5A2A2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9204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892040" y="21031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and warning time change who reaches safety. PANIC ENGINE is a transparent, reproducible and visual way to test them on a real campus map.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892040" y="3749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github.com/Ash19123/panic-engine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ash19123.github.io/panic-engine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nic Engine Dark">
  <a:themeElements>
    <a:clrScheme name="Panic Engine Dark">
      <a:dk1>
        <a:srgbClr val="0A0E17"/>
      </a:dk1>
      <a:lt1>
        <a:srgbClr val="E8ECF4"/>
      </a:lt1>
      <a:dk2>
        <a:srgbClr val="141B2B"/>
      </a:dk2>
      <a:lt2>
        <a:srgbClr val="9AA5BC"/>
      </a:lt2>
      <a:accent1>
        <a:srgbClr val="FF5A4E"/>
      </a:accent1>
      <a:accent2>
        <a:srgbClr val="34D399"/>
      </a:accent2>
      <a:accent3>
        <a:srgbClr val="FBBF24"/>
      </a:accent3>
      <a:accent4>
        <a:srgbClr val="60A5FA"/>
      </a:accent4>
      <a:accent5>
        <a:srgbClr val="A78BFA"/>
      </a:accent5>
      <a:accent6>
        <a:srgbClr val="2A3550"/>
      </a:accent6>
      <a:hlink>
        <a:srgbClr val="60A5FA"/>
      </a:hlink>
      <a:folHlink>
        <a:srgbClr val="A78BFA"/>
      </a:folHlink>
    </a:clrScheme>
    <a:fontScheme name="Panic Engine Dar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PANIC ENGINE</dc:title>
  <dc:subject>PptxGenJS Presentation</dc:subject>
  <dc:creator>PANIC ENGINE team</dc:creator>
  <cp:lastModifiedBy>PANIC ENGINE team</cp:lastModifiedBy>
  <cp:revision>1</cp:revision>
  <dcterms:created xsi:type="dcterms:W3CDTF">2026-10-26T03:04:38Z</dcterms:created>
  <dcterms:modified xsi:type="dcterms:W3CDTF">2026-10-26T03:04:38Z</dcterms:modified>
</cp:coreProperties>
</file>